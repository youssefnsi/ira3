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89" r:id="rId6"/>
    <p:sldId id="278" r:id="rId7"/>
    <p:sldId id="258" r:id="rId8"/>
    <p:sldId id="280" r:id="rId9"/>
    <p:sldId id="284" r:id="rId10"/>
    <p:sldId id="286" r:id="rId11"/>
    <p:sldId id="287" r:id="rId12"/>
    <p:sldId id="283" r:id="rId13"/>
    <p:sldId id="281" r:id="rId14"/>
    <p:sldId id="282" r:id="rId15"/>
    <p:sldId id="288" r:id="rId16"/>
    <p:sldId id="271" r:id="rId1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0655" autoAdjust="0"/>
  </p:normalViewPr>
  <p:slideViewPr>
    <p:cSldViewPr snapToGrid="0">
      <p:cViewPr>
        <p:scale>
          <a:sx n="75" d="100"/>
          <a:sy n="75" d="100"/>
        </p:scale>
        <p:origin x="811" y="216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1D2EACD3-59A3-431D-A9CB-EC029C3F3AF5}" type="datetime1">
              <a:rPr lang="fr-FR" smtClean="0"/>
              <a:t>05/11/2025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28EEFA9E-C190-4F5C-8394-BD5F1CD55C0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DA8956E-0A83-4930-8ABA-7967BBFAD4A7}" type="datetime1">
              <a:rPr lang="fr-FR" smtClean="0"/>
              <a:t>05/11/2025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22289C57-55D7-40A4-A101-E74FAC7A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"Good morning, everyone.”</a:t>
            </a:r>
          </a:p>
          <a:p>
            <a:r>
              <a:rPr lang="en-US" dirty="0"/>
              <a:t>"Today, I'll be giving a presentation on </a:t>
            </a:r>
            <a:r>
              <a:rPr lang="en-US" b="1" dirty="0" err="1"/>
              <a:t>Predell</a:t>
            </a:r>
            <a:r>
              <a:rPr lang="en-US" b="1" dirty="0"/>
              <a:t> Services</a:t>
            </a:r>
            <a:r>
              <a:rPr lang="en-US" dirty="0"/>
              <a:t>, the company where I did my internship."</a:t>
            </a:r>
          </a:p>
          <a:p>
            <a:r>
              <a:rPr lang="en-US" dirty="0"/>
              <a:t>"As you can see from their logo, their business is all about 'trace and flow'—which means tracing data and managing data flows."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"So, who is </a:t>
            </a:r>
            <a:r>
              <a:rPr lang="en-US" dirty="0" err="1"/>
              <a:t>Predell</a:t>
            </a:r>
            <a:r>
              <a:rPr lang="en-US" dirty="0"/>
              <a:t>? They are an </a:t>
            </a:r>
            <a:r>
              <a:rPr lang="en-US" b="1" dirty="0"/>
              <a:t>IT services company</a:t>
            </a:r>
            <a:r>
              <a:rPr lang="en-US" dirty="0"/>
              <a:t>, known as an ESN in France. "</a:t>
            </a:r>
          </a:p>
          <a:p>
            <a:r>
              <a:rPr lang="en-US" dirty="0"/>
              <a:t>"They are a local company, </a:t>
            </a:r>
            <a:r>
              <a:rPr lang="en-US" b="1" dirty="0"/>
              <a:t>based right here in Angers</a:t>
            </a:r>
            <a:r>
              <a:rPr lang="en-US" dirty="0"/>
              <a:t>. "</a:t>
            </a:r>
          </a:p>
          <a:p>
            <a:r>
              <a:rPr lang="en-US" dirty="0"/>
              <a:t>"The company has about </a:t>
            </a:r>
            <a:r>
              <a:rPr lang="en-US" b="1" dirty="0"/>
              <a:t>40 engineers and technicians</a:t>
            </a:r>
            <a:r>
              <a:rPr lang="en-US" dirty="0"/>
              <a:t>. "</a:t>
            </a:r>
          </a:p>
          <a:p>
            <a:r>
              <a:rPr lang="en-US" dirty="0"/>
              <a:t>"A quick look at their history: The original company was founded in 2003, and the '</a:t>
            </a:r>
            <a:r>
              <a:rPr lang="en-US" dirty="0" err="1"/>
              <a:t>Predell</a:t>
            </a:r>
            <a:r>
              <a:rPr lang="en-US" dirty="0"/>
              <a:t> Services' entity, as it is today, was created in 2008. "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C7A78-350C-5D25-FE5F-84D22C456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FAD0DB3-6FAF-5151-35C6-A4F0A7ADB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A7D8BF1-7501-AAD5-0B14-1FD661305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What does </a:t>
            </a:r>
            <a:r>
              <a:rPr lang="en-US" dirty="0" err="1"/>
              <a:t>Predell</a:t>
            </a:r>
            <a:r>
              <a:rPr lang="en-US" dirty="0"/>
              <a:t> actually do? Their work is very specialized."</a:t>
            </a:r>
          </a:p>
          <a:p>
            <a:r>
              <a:rPr lang="en-US" dirty="0"/>
              <a:t>"They have two main areas of expertise:"</a:t>
            </a:r>
          </a:p>
          <a:p>
            <a:r>
              <a:rPr lang="en-US" dirty="0"/>
              <a:t>"First, </a:t>
            </a:r>
            <a:r>
              <a:rPr lang="en-US" b="1" dirty="0"/>
              <a:t>Automated Data Exchange</a:t>
            </a:r>
            <a:r>
              <a:rPr lang="en-US" dirty="0"/>
              <a:t>, which is also called </a:t>
            </a:r>
            <a:r>
              <a:rPr lang="en-US" b="1" dirty="0"/>
              <a:t>EDI</a:t>
            </a:r>
            <a:r>
              <a:rPr lang="en-US" dirty="0"/>
              <a:t>. This is about making different business systems communicate automatically." </a:t>
            </a:r>
          </a:p>
          <a:p>
            <a:r>
              <a:rPr lang="en-US" dirty="0"/>
              <a:t>"And second, </a:t>
            </a:r>
            <a:r>
              <a:rPr lang="en-US" b="1" dirty="0"/>
              <a:t>Traceability Systems</a:t>
            </a:r>
            <a:r>
              <a:rPr lang="en-US" dirty="0"/>
              <a:t>, which involves tracking products or information through a supply chain. “</a:t>
            </a:r>
          </a:p>
          <a:p>
            <a:r>
              <a:rPr lang="en-US" dirty="0"/>
              <a:t>"Internally, the company is organized into two main departments, or 'Poles'."</a:t>
            </a:r>
          </a:p>
          <a:p>
            <a:r>
              <a:rPr lang="en-US" dirty="0"/>
              <a:t>"First, the </a:t>
            </a:r>
            <a:r>
              <a:rPr lang="en-US" b="1" dirty="0"/>
              <a:t>Services Pole</a:t>
            </a:r>
            <a:r>
              <a:rPr lang="en-US" dirty="0"/>
              <a:t>, which is where I worked. This team manages client integration projects using tools like </a:t>
            </a:r>
            <a:r>
              <a:rPr lang="en-US" dirty="0" err="1"/>
              <a:t>TradeXpress</a:t>
            </a:r>
            <a:r>
              <a:rPr lang="en-US" dirty="0"/>
              <a:t> and </a:t>
            </a:r>
            <a:r>
              <a:rPr lang="en-US" dirty="0" err="1"/>
              <a:t>Mulesoft</a:t>
            </a:r>
            <a:r>
              <a:rPr lang="en-US" dirty="0"/>
              <a:t>." </a:t>
            </a:r>
          </a:p>
          <a:p>
            <a:r>
              <a:rPr lang="en-US" dirty="0"/>
              <a:t>"Second, the </a:t>
            </a:r>
            <a:r>
              <a:rPr lang="en-US" b="1" dirty="0"/>
              <a:t>Product Pole</a:t>
            </a:r>
            <a:r>
              <a:rPr lang="en-US" dirty="0"/>
              <a:t>. This team develops </a:t>
            </a:r>
            <a:r>
              <a:rPr lang="en-US" dirty="0" err="1"/>
              <a:t>Predell's</a:t>
            </a:r>
            <a:r>
              <a:rPr lang="en-US" dirty="0"/>
              <a:t> own in-house software, primarily for traceability solutions." </a:t>
            </a:r>
          </a:p>
          <a:p>
            <a:endParaRPr lang="en-US" dirty="0"/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EB96D1-EB30-68CF-414F-52FC230B0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3561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933E2-BC46-CCDC-7D93-E0EC25DB4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B07835D-A0AD-EFEF-9F39-9E676A4BF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06798C0-027C-B863-6128-9DFA5DE80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"This diagram shows </a:t>
            </a:r>
            <a:r>
              <a:rPr lang="en-US" b="1" dirty="0"/>
              <a:t>'</a:t>
            </a:r>
            <a:r>
              <a:rPr lang="en-US" b="1" dirty="0" err="1"/>
              <a:t>Predell</a:t>
            </a:r>
            <a:r>
              <a:rPr lang="en-US" b="1" dirty="0"/>
              <a:t> On Demand,'</a:t>
            </a:r>
            <a:r>
              <a:rPr lang="en-US" dirty="0"/>
              <a:t> which is a perfect example of their 'flow' or EDI business."</a:t>
            </a:r>
          </a:p>
          <a:p>
            <a:r>
              <a:rPr lang="en-US" dirty="0"/>
              <a:t>"Think of it as a </a:t>
            </a:r>
            <a:r>
              <a:rPr lang="en-US" b="1" dirty="0"/>
              <a:t>central hub or a universal translator</a:t>
            </a:r>
            <a:r>
              <a:rPr lang="en-US" dirty="0"/>
              <a:t>."</a:t>
            </a:r>
          </a:p>
          <a:p>
            <a:r>
              <a:rPr lang="en-US" dirty="0"/>
              <a:t>"On the left, you have the company (the user) with its internal system, like an ERP."</a:t>
            </a:r>
          </a:p>
          <a:p>
            <a:r>
              <a:rPr lang="en-US" dirty="0"/>
              <a:t>"On the right, you have all its external partners—customers, suppliers, etc."</a:t>
            </a:r>
          </a:p>
          <a:p>
            <a:r>
              <a:rPr lang="en-US" dirty="0"/>
              <a:t>"Instead of the user building 50 different connections, they just connect </a:t>
            </a:r>
            <a:r>
              <a:rPr lang="en-US" i="1" dirty="0"/>
              <a:t>once</a:t>
            </a:r>
            <a:r>
              <a:rPr lang="en-US" dirty="0"/>
              <a:t> to </a:t>
            </a:r>
            <a:r>
              <a:rPr lang="en-US" dirty="0" err="1"/>
              <a:t>Predell</a:t>
            </a:r>
            <a:r>
              <a:rPr lang="en-US" dirty="0"/>
              <a:t>."</a:t>
            </a:r>
          </a:p>
          <a:p>
            <a:r>
              <a:rPr lang="en-US" dirty="0"/>
              <a:t>"</a:t>
            </a:r>
            <a:r>
              <a:rPr lang="en-US" dirty="0" err="1"/>
              <a:t>Predell</a:t>
            </a:r>
            <a:r>
              <a:rPr lang="en-US" dirty="0"/>
              <a:t> then </a:t>
            </a:r>
            <a:r>
              <a:rPr lang="en-US" b="1" dirty="0"/>
              <a:t>translates and transports</a:t>
            </a:r>
            <a:r>
              <a:rPr lang="en-US" dirty="0"/>
              <a:t> the data to every partner in the exact format they need. It also manages alerts and business processes."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E92875-ADA0-04BB-23D1-9C060A8C7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5103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8C2C7-4997-6E60-9CF3-C65945E3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E585B55A-71BA-87F3-CDF1-A3FFF2F93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9E3E546-AB33-41E8-6A6B-E10D6009E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"This diagram shows </a:t>
            </a:r>
            <a:r>
              <a:rPr lang="en-US" b="1" dirty="0"/>
              <a:t>'</a:t>
            </a:r>
            <a:r>
              <a:rPr lang="en-US" b="1" dirty="0" err="1"/>
              <a:t>Predell</a:t>
            </a:r>
            <a:r>
              <a:rPr lang="en-US" b="1" dirty="0"/>
              <a:t> Trace,'</a:t>
            </a:r>
            <a:r>
              <a:rPr lang="en-US" dirty="0"/>
              <a:t> which is their 'trace' or traceability solution."</a:t>
            </a:r>
          </a:p>
          <a:p>
            <a:r>
              <a:rPr lang="en-US" dirty="0"/>
              <a:t>"At the bottom, you have all the different partners in a supply chain: carriers, warehouses, logistics, and the client."</a:t>
            </a:r>
          </a:p>
          <a:p>
            <a:r>
              <a:rPr lang="en-US" dirty="0"/>
              <a:t>"Each one has its own internal tracking system."</a:t>
            </a:r>
          </a:p>
          <a:p>
            <a:r>
              <a:rPr lang="en-US" dirty="0"/>
              <a:t>"</a:t>
            </a:r>
            <a:r>
              <a:rPr lang="en-US" dirty="0" err="1"/>
              <a:t>Predell</a:t>
            </a:r>
            <a:r>
              <a:rPr lang="en-US" dirty="0"/>
              <a:t> Trace acts as a </a:t>
            </a:r>
            <a:r>
              <a:rPr lang="en-US" b="1" dirty="0"/>
              <a:t>central control tower</a:t>
            </a:r>
            <a:r>
              <a:rPr lang="en-US" dirty="0"/>
              <a:t>. It collects the tracking data from </a:t>
            </a:r>
            <a:r>
              <a:rPr lang="en-US" i="1" dirty="0"/>
              <a:t>all</a:t>
            </a:r>
            <a:r>
              <a:rPr lang="en-US" dirty="0"/>
              <a:t> of these different partners and stores it in one place."</a:t>
            </a:r>
          </a:p>
          <a:p>
            <a:r>
              <a:rPr lang="en-US" dirty="0"/>
              <a:t>"This gives the client a single, unified view to see exactly where their products are at any time."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660844-6E05-4BC0-3B31-448789619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5148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E5BE-0AA3-A30C-AEC2-65D9709F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5DCFFFD-9B36-1952-B5FA-AAAD36F34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4335DAD-57AF-278B-9845-DBC49C4A5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48400C-628B-D558-E0CD-953B3D1D7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4532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"This slide gives a quick overview of their work."</a:t>
            </a:r>
          </a:p>
          <a:p>
            <a:r>
              <a:rPr lang="en-US" dirty="0"/>
              <a:t>"First, you can see some of their </a:t>
            </a:r>
            <a:r>
              <a:rPr lang="en-US" b="1" dirty="0"/>
              <a:t>main clients</a:t>
            </a:r>
            <a:r>
              <a:rPr lang="en-US" dirty="0"/>
              <a:t>, which are large, well-known industrial groups like </a:t>
            </a:r>
            <a:r>
              <a:rPr lang="en-US" b="1" dirty="0"/>
              <a:t>SAFRAN, MANITOU, SONEPAR, and HUTCHINSON</a:t>
            </a:r>
            <a:r>
              <a:rPr lang="en-US" dirty="0"/>
              <a:t>. "</a:t>
            </a:r>
          </a:p>
          <a:p>
            <a:r>
              <a:rPr lang="en-US" dirty="0"/>
              <a:t>"Second, it shows their process. They manage the </a:t>
            </a:r>
            <a:r>
              <a:rPr lang="en-US" b="1" dirty="0"/>
              <a:t>full project lifecycle</a:t>
            </a:r>
            <a:r>
              <a:rPr lang="en-US" dirty="0"/>
              <a:t>—from the initial study and design, all the way through development, configuration, and maintenance. "</a:t>
            </a:r>
          </a:p>
          <a:p>
            <a:r>
              <a:rPr lang="en-US" dirty="0"/>
              <a:t>"Finally, these are the </a:t>
            </a:r>
            <a:r>
              <a:rPr lang="en-US" b="1" dirty="0"/>
              <a:t>key technologies</a:t>
            </a:r>
            <a:r>
              <a:rPr lang="en-US" dirty="0"/>
              <a:t> they use, including major EDI platforms like </a:t>
            </a:r>
            <a:r>
              <a:rPr lang="en-US" dirty="0" err="1"/>
              <a:t>TradeXpress</a:t>
            </a:r>
            <a:r>
              <a:rPr lang="en-US" dirty="0"/>
              <a:t> and </a:t>
            </a:r>
            <a:r>
              <a:rPr lang="en-US" dirty="0" err="1"/>
              <a:t>Mulesoft</a:t>
            </a:r>
            <a:r>
              <a:rPr lang="en-US" dirty="0"/>
              <a:t>."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"Now, I'd like to quickly talk about my first </a:t>
            </a:r>
            <a:r>
              <a:rPr lang="fr-FR" dirty="0" err="1"/>
              <a:t>assignment</a:t>
            </a:r>
            <a:r>
              <a:rPr lang="en-US" dirty="0"/>
              <a:t>."</a:t>
            </a:r>
          </a:p>
          <a:p>
            <a:r>
              <a:rPr lang="en-US" dirty="0"/>
              <a:t>"</a:t>
            </a:r>
            <a:r>
              <a:rPr lang="en-US" b="1" dirty="0"/>
              <a:t>The challenge</a:t>
            </a:r>
            <a:r>
              <a:rPr lang="en-US" dirty="0"/>
              <a:t> was for a client who needed to send data to GRDF. "</a:t>
            </a:r>
          </a:p>
          <a:p>
            <a:r>
              <a:rPr lang="en-US" dirty="0"/>
              <a:t>"The client's data was in a </a:t>
            </a:r>
            <a:r>
              <a:rPr lang="en-US" b="1" dirty="0"/>
              <a:t>very specific, custom text format</a:t>
            </a:r>
            <a:r>
              <a:rPr lang="en-US" dirty="0"/>
              <a:t>. But GRDF required a </a:t>
            </a:r>
            <a:r>
              <a:rPr lang="en-US" b="1" dirty="0"/>
              <a:t>universal, standard format</a:t>
            </a:r>
            <a:r>
              <a:rPr lang="en-US" dirty="0"/>
              <a:t> called 'EDIFACT'. "</a:t>
            </a:r>
          </a:p>
          <a:p>
            <a:r>
              <a:rPr lang="en-US" dirty="0"/>
              <a:t>"</a:t>
            </a:r>
            <a:r>
              <a:rPr lang="en-US" b="1" dirty="0"/>
              <a:t>My solution</a:t>
            </a:r>
            <a:r>
              <a:rPr lang="en-US" dirty="0"/>
              <a:t> was to develop a translator program that sits in the middle. "</a:t>
            </a:r>
          </a:p>
          <a:p>
            <a:r>
              <a:rPr lang="en-US" dirty="0"/>
              <a:t>"It takes the client's custom text file as the </a:t>
            </a:r>
            <a:r>
              <a:rPr lang="en-US" b="1" dirty="0"/>
              <a:t>input</a:t>
            </a:r>
            <a:r>
              <a:rPr lang="en-US" dirty="0"/>
              <a:t>... "</a:t>
            </a:r>
          </a:p>
          <a:p>
            <a:r>
              <a:rPr lang="en-US" dirty="0"/>
              <a:t>"...and it converts it into a standard EDI 'DESADV' message for the </a:t>
            </a:r>
            <a:r>
              <a:rPr lang="en-US" b="1" dirty="0"/>
              <a:t>output</a:t>
            </a:r>
            <a:r>
              <a:rPr lang="en-US" dirty="0"/>
              <a:t>, which GRDF can understand. "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B8440-2CB3-3ACF-EAE4-3724E9F2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8DF6FF5-6809-E938-97FF-E0801C567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72FFE88-6A98-D474-6A18-6FB7667A9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2D5043-2852-687A-D30C-3F06BA220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9095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fr-FR" sz="3600" spc="15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rdre du jou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 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fr-FR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 rtlCol="0">
            <a:normAutofit/>
          </a:bodyPr>
          <a:lstStyle>
            <a:lvl1pPr marL="0" indent="0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 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 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9" name="Espace réservé du contenu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 rtlCol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lang="fr-FR"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fr-FR"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fr-FR"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fr-FR"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20" name="Espace réservé du numéro de diapositive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 rtlCol="0">
            <a:normAutofit/>
          </a:bodyPr>
          <a:lstStyle>
            <a:lvl1pPr marL="0" indent="0" algn="l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contenu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fr-FR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table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 tableau</a:t>
            </a:r>
            <a:endParaRPr lang="fr-FR" dirty="0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rtlCol="0" anchor="ctr">
            <a:no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rtlCol="0" anchor="ctr">
            <a:no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Graphique 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rtlCol="0" anchor="b">
            <a:normAutofit/>
          </a:bodyPr>
          <a:lstStyle>
            <a:lvl1pPr algn="ctr"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e table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 tableau</a:t>
            </a:r>
            <a:endParaRPr lang="fr-FR" dirty="0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rme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fr-FR"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9DFD55-3C28-40EF-9E31-A92D2E4017F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5463943" cy="3200400"/>
          </a:xfrm>
        </p:spPr>
        <p:txBody>
          <a:bodyPr rtlCol="0" anchor="ctr"/>
          <a:lstStyle>
            <a:defPPr>
              <a:defRPr lang="fr-FR"/>
            </a:defPPr>
          </a:lstStyle>
          <a:p>
            <a:pPr algn="ctr" rtl="0"/>
            <a:r>
              <a:rPr lang="fr-FR" dirty="0" err="1"/>
              <a:t>Presentation</a:t>
            </a:r>
            <a:r>
              <a:rPr lang="fr-FR" dirty="0"/>
              <a:t> of</a:t>
            </a:r>
            <a:br>
              <a:rPr lang="fr-FR" dirty="0"/>
            </a:br>
            <a:r>
              <a:rPr lang="fr-FR" dirty="0">
                <a:solidFill>
                  <a:srgbClr val="FF9900"/>
                </a:solidFill>
              </a:rPr>
              <a:t>PREDELL</a:t>
            </a:r>
            <a:r>
              <a:rPr lang="fr-FR" dirty="0"/>
              <a:t> SERVICES</a:t>
            </a:r>
          </a:p>
        </p:txBody>
      </p:sp>
      <p:pic>
        <p:nvPicPr>
          <p:cNvPr id="1026" name="Picture 2" descr="Predell Services | Expertise EDI et Traçabilité">
            <a:extLst>
              <a:ext uri="{FF2B5EF4-FFF2-40B4-BE49-F238E27FC236}">
                <a16:creationId xmlns:a16="http://schemas.microsoft.com/office/drawing/2014/main" id="{ADBF6D43-ED8C-AA11-95C3-7C95DB5E9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336" y="221016"/>
            <a:ext cx="2295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SAIP Campus Ouest : découvrez l'école !">
            <a:extLst>
              <a:ext uri="{FF2B5EF4-FFF2-40B4-BE49-F238E27FC236}">
                <a16:creationId xmlns:a16="http://schemas.microsoft.com/office/drawing/2014/main" id="{9CFBA223-C1ED-8691-FB38-BC0EDCA92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39" y="5681576"/>
            <a:ext cx="1631950" cy="848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86D3D2-4DF9-293A-62CC-35C0D2EC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SUMMARY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90A973-E55E-3CE4-5B62-4CF14DA9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3269" y="6210448"/>
            <a:ext cx="987552" cy="365125"/>
          </a:xfrm>
        </p:spPr>
        <p:txBody>
          <a:bodyPr/>
          <a:lstStyle/>
          <a:p>
            <a:pPr rtl="0"/>
            <a:fld id="{A49DFD55-3C28-40EF-9E31-A92D2E4017FF}" type="slidenum">
              <a:rPr lang="fr-FR" sz="2400" smtClean="0">
                <a:solidFill>
                  <a:schemeClr val="bg1"/>
                </a:solidFill>
              </a:rPr>
              <a:pPr rtl="0"/>
              <a:t>2</a:t>
            </a:fld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1D5A8EE-0061-4CB6-0654-712DA43E0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88" y="2877198"/>
            <a:ext cx="3736211" cy="3269589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fr-FR" dirty="0"/>
              <a:t>Introduction to the </a:t>
            </a:r>
            <a:r>
              <a:rPr lang="fr-FR" dirty="0" err="1"/>
              <a:t>company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do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Internal</a:t>
            </a:r>
            <a:r>
              <a:rPr lang="fr-FR" dirty="0"/>
              <a:t> structure</a:t>
            </a:r>
          </a:p>
          <a:p>
            <a:pPr marL="285750" indent="-285750">
              <a:buFontTx/>
              <a:buChar char="-"/>
            </a:pPr>
            <a:r>
              <a:rPr lang="fr-FR" dirty="0"/>
              <a:t>Clients &amp; </a:t>
            </a:r>
            <a:r>
              <a:rPr lang="fr-FR" dirty="0" err="1"/>
              <a:t>Organization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My</a:t>
            </a:r>
            <a:r>
              <a:rPr lang="fr-FR" dirty="0"/>
              <a:t> first </a:t>
            </a:r>
            <a:r>
              <a:rPr lang="fr-FR" dirty="0" err="1"/>
              <a:t>assignment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331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475972" cy="337735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PREDELL Services: At a Glance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PREDELL Services: At a Glance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lvl="1" rtl="0"/>
            <a:endParaRPr lang="fr-FR" dirty="0"/>
          </a:p>
          <a:p>
            <a:pPr lvl="1" rtl="0"/>
            <a:r>
              <a:rPr lang="fr-FR" dirty="0" err="1"/>
              <a:t>Who</a:t>
            </a:r>
            <a:r>
              <a:rPr lang="fr-FR" dirty="0"/>
              <a:t> ? </a:t>
            </a:r>
            <a:r>
              <a:rPr lang="en-US" dirty="0"/>
              <a:t>An IT services company (ESN) with about 40 engineers and technicians.</a:t>
            </a:r>
            <a:endParaRPr lang="fr-FR" dirty="0"/>
          </a:p>
          <a:p>
            <a:pPr lvl="1" rtl="0"/>
            <a:r>
              <a:rPr lang="fr-FR" dirty="0" err="1"/>
              <a:t>Where</a:t>
            </a:r>
            <a:r>
              <a:rPr lang="fr-FR" dirty="0"/>
              <a:t> ? </a:t>
            </a:r>
            <a:r>
              <a:rPr lang="fr-FR" dirty="0" err="1"/>
              <a:t>Based</a:t>
            </a:r>
            <a:r>
              <a:rPr lang="fr-FR" dirty="0"/>
              <a:t> in Angers</a:t>
            </a:r>
          </a:p>
          <a:p>
            <a:pPr lvl="1" rtl="0"/>
            <a:r>
              <a:rPr lang="fr-FR" dirty="0" err="1"/>
              <a:t>History</a:t>
            </a:r>
            <a:r>
              <a:rPr lang="fr-FR" dirty="0"/>
              <a:t> : </a:t>
            </a:r>
            <a:r>
              <a:rPr lang="en-US" dirty="0"/>
              <a:t>Founded in 2003 , "</a:t>
            </a:r>
            <a:r>
              <a:rPr lang="en-US" dirty="0" err="1"/>
              <a:t>Predell</a:t>
            </a:r>
            <a:r>
              <a:rPr lang="en-US" dirty="0"/>
              <a:t> Services" entity created in 2008.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z="2000" smtClean="0"/>
              <a:pPr rtl="0"/>
              <a:t>4</a:t>
            </a:fld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What We Do: Core Expertise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82F2-20DC-E732-CBC0-657B0340C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6E5C1B-E2ED-7641-F85F-C77C482B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What We Do: Core Expertise</a:t>
            </a:r>
            <a:endParaRPr lang="fr-FR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822AE92-A16E-D0DB-A6A8-8DBC584F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4540" y="2787096"/>
            <a:ext cx="2263140" cy="464499"/>
          </a:xfrm>
        </p:spPr>
        <p:txBody>
          <a:bodyPr rtlCol="0">
            <a:normAutofit fontScale="92500"/>
          </a:bodyPr>
          <a:lstStyle>
            <a:defPPr>
              <a:defRPr lang="fr-FR"/>
            </a:defPPr>
          </a:lstStyle>
          <a:p>
            <a:pPr algn="ctr"/>
            <a:r>
              <a:rPr lang="fr-FR" dirty="0"/>
              <a:t>Main </a:t>
            </a:r>
            <a:r>
              <a:rPr lang="fr-FR" dirty="0" err="1"/>
              <a:t>Specialization</a:t>
            </a:r>
            <a:endParaRPr lang="fr-FR" dirty="0"/>
          </a:p>
        </p:txBody>
      </p:sp>
      <p:sp>
        <p:nvSpPr>
          <p:cNvPr id="35" name="Espace réservé du contenu 34">
            <a:extLst>
              <a:ext uri="{FF2B5EF4-FFF2-40B4-BE49-F238E27FC236}">
                <a16:creationId xmlns:a16="http://schemas.microsoft.com/office/drawing/2014/main" id="{9CD36C8B-8824-3428-6421-78855D54AA5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917907" y="3156608"/>
            <a:ext cx="2562653" cy="3234264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285750" indent="-285750" rtl="0">
              <a:buFontTx/>
              <a:buChar char="-"/>
            </a:pPr>
            <a:r>
              <a:rPr lang="fr-FR" sz="1600" dirty="0" err="1"/>
              <a:t>Automated</a:t>
            </a:r>
            <a:r>
              <a:rPr lang="fr-FR" sz="1600" dirty="0"/>
              <a:t> Data Exchange (EDI)</a:t>
            </a:r>
          </a:p>
          <a:p>
            <a:pPr marL="285750" indent="-285750" rtl="0">
              <a:buFontTx/>
              <a:buChar char="-"/>
            </a:pPr>
            <a:r>
              <a:rPr lang="fr-FR" sz="1600" dirty="0" err="1"/>
              <a:t>Traceability</a:t>
            </a:r>
            <a:r>
              <a:rPr lang="fr-FR" sz="1600" dirty="0"/>
              <a:t> </a:t>
            </a:r>
            <a:r>
              <a:rPr lang="fr-FR" sz="1600" dirty="0" err="1"/>
              <a:t>Systems</a:t>
            </a:r>
            <a:endParaRPr lang="fr-FR" sz="1600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3E2C197B-4D54-E977-E238-6A8E6822D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2483" y="2785664"/>
            <a:ext cx="2364844" cy="494587"/>
          </a:xfrm>
        </p:spPr>
        <p:txBody>
          <a:bodyPr rtlCol="0"/>
          <a:lstStyle>
            <a:defPPr>
              <a:defRPr lang="fr-FR"/>
            </a:defPPr>
          </a:lstStyle>
          <a:p>
            <a:pPr algn="ctr"/>
            <a:r>
              <a:rPr lang="fr-FR" dirty="0"/>
              <a:t>Services Pole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E87BE09-8F4A-6DE4-D8B2-9988F3F9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z="2400" smtClean="0"/>
              <a:pPr rtl="0"/>
              <a:t>6</a:t>
            </a:fld>
            <a:endParaRPr lang="fr-FR" sz="2400" dirty="0"/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A0095AB0-62C2-EDB0-63DA-6C8F8D644A7F}"/>
              </a:ext>
            </a:extLst>
          </p:cNvPr>
          <p:cNvSpPr txBox="1">
            <a:spLocks/>
          </p:cNvSpPr>
          <p:nvPr/>
        </p:nvSpPr>
        <p:spPr>
          <a:xfrm>
            <a:off x="8401537" y="2785664"/>
            <a:ext cx="2053104" cy="464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Product Pole</a:t>
            </a:r>
          </a:p>
        </p:txBody>
      </p:sp>
      <p:sp>
        <p:nvSpPr>
          <p:cNvPr id="4" name="Espace réservé du contenu 34">
            <a:extLst>
              <a:ext uri="{FF2B5EF4-FFF2-40B4-BE49-F238E27FC236}">
                <a16:creationId xmlns:a16="http://schemas.microsoft.com/office/drawing/2014/main" id="{85F62B13-235D-9EF8-F947-687420F4FCBE}"/>
              </a:ext>
            </a:extLst>
          </p:cNvPr>
          <p:cNvSpPr txBox="1">
            <a:spLocks/>
          </p:cNvSpPr>
          <p:nvPr/>
        </p:nvSpPr>
        <p:spPr>
          <a:xfrm>
            <a:off x="4814673" y="3156608"/>
            <a:ext cx="2562653" cy="32342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Manages client integration projects (on </a:t>
            </a:r>
            <a:r>
              <a:rPr lang="en-US" dirty="0" err="1"/>
              <a:t>TradeXpress</a:t>
            </a:r>
            <a:r>
              <a:rPr lang="en-US" dirty="0"/>
              <a:t>, </a:t>
            </a:r>
            <a:r>
              <a:rPr lang="en-US" dirty="0" err="1"/>
              <a:t>Mulesoft</a:t>
            </a:r>
            <a:r>
              <a:rPr lang="en-US" dirty="0"/>
              <a:t>, etc.).</a:t>
            </a:r>
            <a:endParaRPr lang="fr-FR" dirty="0"/>
          </a:p>
        </p:txBody>
      </p:sp>
      <p:sp>
        <p:nvSpPr>
          <p:cNvPr id="7" name="Espace réservé du contenu 34">
            <a:extLst>
              <a:ext uri="{FF2B5EF4-FFF2-40B4-BE49-F238E27FC236}">
                <a16:creationId xmlns:a16="http://schemas.microsoft.com/office/drawing/2014/main" id="{67BBD8B8-4F7F-1BBB-E49C-08D3E2015ECF}"/>
              </a:ext>
            </a:extLst>
          </p:cNvPr>
          <p:cNvSpPr txBox="1">
            <a:spLocks/>
          </p:cNvSpPr>
          <p:nvPr/>
        </p:nvSpPr>
        <p:spPr>
          <a:xfrm>
            <a:off x="8206704" y="3152173"/>
            <a:ext cx="2562653" cy="32342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Develops in-house software, mainly for traceability.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9007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B529-F964-58A2-2A10-62A9EA858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59A1A3-F3B2-4689-2B9F-4A690E308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794" y="0"/>
            <a:ext cx="8420100" cy="178086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Services Pole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2EE19DA-D45A-A0A4-6FF1-C7713D19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z="2400" smtClean="0"/>
              <a:pPr rtl="0"/>
              <a:t>7</a:t>
            </a:fld>
            <a:endParaRPr lang="fr-FR" sz="2400" dirty="0"/>
          </a:p>
        </p:txBody>
      </p:sp>
      <p:pic>
        <p:nvPicPr>
          <p:cNvPr id="1028" name="Picture 4" descr="Predell On Demand | Predell Services">
            <a:extLst>
              <a:ext uri="{FF2B5EF4-FFF2-40B4-BE49-F238E27FC236}">
                <a16:creationId xmlns:a16="http://schemas.microsoft.com/office/drawing/2014/main" id="{A9A58B04-AA3F-4861-C35C-E86D82CC1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727" y="1780860"/>
            <a:ext cx="9106843" cy="476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70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F4ED8-69C8-B3E8-2C92-B5112C7B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FD157B-59B3-7CE2-14D2-D55A5DB3B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Product Pole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8CA7777-5551-4A30-859D-D83F4B62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z="2400" smtClean="0"/>
              <a:pPr rtl="0"/>
              <a:t>8</a:t>
            </a:fld>
            <a:endParaRPr lang="fr-FR" sz="2400" dirty="0"/>
          </a:p>
        </p:txBody>
      </p:sp>
      <p:pic>
        <p:nvPicPr>
          <p:cNvPr id="1026" name="Picture 2" descr="Transport et logistique | Predell Services">
            <a:extLst>
              <a:ext uri="{FF2B5EF4-FFF2-40B4-BE49-F238E27FC236}">
                <a16:creationId xmlns:a16="http://schemas.microsoft.com/office/drawing/2014/main" id="{7C5238A3-5FAC-5765-2E23-1AC4B8819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321" y="2582853"/>
            <a:ext cx="8958805" cy="385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302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80DC3-E8EF-DADD-5A11-84FE7738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976E3-2EFB-2094-A681-F4302831D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CLIENTS &amp; ORGANIZATION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8908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CLIENTS &amp; ORGANIZATION</a:t>
            </a:r>
            <a:endParaRPr lang="fr-FR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4540" y="2787096"/>
            <a:ext cx="3924300" cy="464499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Our Main clients</a:t>
            </a:r>
          </a:p>
        </p:txBody>
      </p:sp>
      <p:sp>
        <p:nvSpPr>
          <p:cNvPr id="35" name="Espace réservé du contenu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917907" y="3156608"/>
            <a:ext cx="2562653" cy="3234264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285750" indent="-285750" rtl="0">
              <a:buFontTx/>
              <a:buChar char="-"/>
            </a:pPr>
            <a:r>
              <a:rPr lang="fr-FR" sz="1600" dirty="0"/>
              <a:t>SAFRAN</a:t>
            </a:r>
          </a:p>
          <a:p>
            <a:pPr marL="285750" indent="-285750" rtl="0">
              <a:buFontTx/>
              <a:buChar char="-"/>
            </a:pPr>
            <a:r>
              <a:rPr lang="fr-FR" sz="1600" dirty="0"/>
              <a:t>MANITOU</a:t>
            </a:r>
          </a:p>
          <a:p>
            <a:pPr marL="285750" indent="-285750" rtl="0">
              <a:buFontTx/>
              <a:buChar char="-"/>
            </a:pPr>
            <a:r>
              <a:rPr lang="fr-FR" sz="1600" dirty="0"/>
              <a:t>SONEPAR</a:t>
            </a:r>
          </a:p>
          <a:p>
            <a:pPr marL="285750" indent="-285750" rtl="0">
              <a:buFontTx/>
              <a:buChar char="-"/>
            </a:pPr>
            <a:r>
              <a:rPr lang="fr-FR" sz="1600" dirty="0"/>
              <a:t>HUTCHINSON</a:t>
            </a:r>
          </a:p>
          <a:p>
            <a:pPr marL="285750" indent="-285750" rtl="0">
              <a:buFontTx/>
              <a:buChar char="-"/>
            </a:pPr>
            <a:r>
              <a:rPr lang="fr-FR" sz="1600" dirty="0"/>
              <a:t>(…)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2483" y="2785664"/>
            <a:ext cx="2364844" cy="49458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Full Project </a:t>
            </a:r>
            <a:r>
              <a:rPr lang="fr-FR" dirty="0" err="1"/>
              <a:t>Lifecycle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z="2400" smtClean="0"/>
              <a:pPr rtl="0"/>
              <a:t>10</a:t>
            </a:fld>
            <a:endParaRPr lang="fr-FR" sz="2400" dirty="0"/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7890F42F-FF69-BB16-4BBF-EB2DEE2761D9}"/>
              </a:ext>
            </a:extLst>
          </p:cNvPr>
          <p:cNvSpPr txBox="1">
            <a:spLocks/>
          </p:cNvSpPr>
          <p:nvPr/>
        </p:nvSpPr>
        <p:spPr>
          <a:xfrm>
            <a:off x="8401536" y="2785664"/>
            <a:ext cx="3943627" cy="464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Key Technologies</a:t>
            </a:r>
          </a:p>
        </p:txBody>
      </p:sp>
      <p:sp>
        <p:nvSpPr>
          <p:cNvPr id="4" name="Espace réservé du contenu 34">
            <a:extLst>
              <a:ext uri="{FF2B5EF4-FFF2-40B4-BE49-F238E27FC236}">
                <a16:creationId xmlns:a16="http://schemas.microsoft.com/office/drawing/2014/main" id="{BB2269EE-1691-8E1E-3500-5AE3C90BA504}"/>
              </a:ext>
            </a:extLst>
          </p:cNvPr>
          <p:cNvSpPr txBox="1">
            <a:spLocks/>
          </p:cNvSpPr>
          <p:nvPr/>
        </p:nvSpPr>
        <p:spPr>
          <a:xfrm>
            <a:off x="4814673" y="3156608"/>
            <a:ext cx="2562653" cy="32342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cover the full cycle:</a:t>
            </a:r>
          </a:p>
          <a:p>
            <a:pPr marL="285750" indent="-285750">
              <a:buFontTx/>
              <a:buChar char="-"/>
            </a:pPr>
            <a:r>
              <a:rPr lang="en-US" dirty="0"/>
              <a:t>Study </a:t>
            </a:r>
          </a:p>
          <a:p>
            <a:pPr marL="285750" indent="-285750">
              <a:buFontTx/>
              <a:buChar char="-"/>
            </a:pPr>
            <a:r>
              <a:rPr lang="en-US" dirty="0"/>
              <a:t>Design</a:t>
            </a:r>
          </a:p>
          <a:p>
            <a:pPr marL="285750" indent="-285750">
              <a:buFontTx/>
              <a:buChar char="-"/>
            </a:pPr>
            <a:r>
              <a:rPr lang="en-US" dirty="0"/>
              <a:t>Development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Configuration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Maintenance</a:t>
            </a:r>
            <a:endParaRPr lang="fr-FR" dirty="0"/>
          </a:p>
        </p:txBody>
      </p:sp>
      <p:sp>
        <p:nvSpPr>
          <p:cNvPr id="7" name="Espace réservé du contenu 34">
            <a:extLst>
              <a:ext uri="{FF2B5EF4-FFF2-40B4-BE49-F238E27FC236}">
                <a16:creationId xmlns:a16="http://schemas.microsoft.com/office/drawing/2014/main" id="{DD8D1D6E-A1CB-7B9B-35C3-8B950F7741F5}"/>
              </a:ext>
            </a:extLst>
          </p:cNvPr>
          <p:cNvSpPr txBox="1">
            <a:spLocks/>
          </p:cNvSpPr>
          <p:nvPr/>
        </p:nvSpPr>
        <p:spPr>
          <a:xfrm>
            <a:off x="8206704" y="3152173"/>
            <a:ext cx="2562653" cy="32342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fr-FR" dirty="0" err="1"/>
              <a:t>TradeXpress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Mulesoft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Cdata</a:t>
            </a:r>
            <a:r>
              <a:rPr lang="fr-FR" dirty="0"/>
              <a:t> Arc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Grafana</a:t>
            </a:r>
            <a:endParaRPr lang="fr-FR" dirty="0"/>
          </a:p>
        </p:txBody>
      </p:sp>
      <p:pic>
        <p:nvPicPr>
          <p:cNvPr id="1026" name="Picture 2" descr="Safran">
            <a:extLst>
              <a:ext uri="{FF2B5EF4-FFF2-40B4-BE49-F238E27FC236}">
                <a16:creationId xmlns:a16="http://schemas.microsoft.com/office/drawing/2014/main" id="{BB6656A7-001A-5BD4-9901-CBE55953C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867" y="3089751"/>
            <a:ext cx="677332" cy="38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296F782-E6ED-E2C0-1318-F1EE3672C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319" y="3537607"/>
            <a:ext cx="986676" cy="29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 Sonepar">
            <a:extLst>
              <a:ext uri="{FF2B5EF4-FFF2-40B4-BE49-F238E27FC236}">
                <a16:creationId xmlns:a16="http://schemas.microsoft.com/office/drawing/2014/main" id="{E2A6F8CC-DCE8-744D-E8E3-BE9B0B943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526" y="3896635"/>
            <a:ext cx="982469" cy="29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a nouvelle identité Hutchinson ! - Hutchison LJF">
            <a:extLst>
              <a:ext uri="{FF2B5EF4-FFF2-40B4-BE49-F238E27FC236}">
                <a16:creationId xmlns:a16="http://schemas.microsoft.com/office/drawing/2014/main" id="{DE55501E-FE33-17D5-BF2E-40F14EC7C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131" y="4259678"/>
            <a:ext cx="646864" cy="36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My First </a:t>
            </a:r>
            <a:r>
              <a:rPr lang="fr-FR" dirty="0" err="1"/>
              <a:t>assignment</a:t>
            </a:r>
            <a:r>
              <a:rPr lang="fr-FR" dirty="0"/>
              <a:t> </a:t>
            </a:r>
            <a:r>
              <a:rPr lang="en-US" dirty="0"/>
              <a:t>: A Data Translator for GRDF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19" y="2960877"/>
            <a:ext cx="3413761" cy="351284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The challenge : </a:t>
            </a:r>
          </a:p>
        </p:txBody>
      </p:sp>
      <p:sp>
        <p:nvSpPr>
          <p:cNvPr id="36" name="Espace réservé du contenu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3146904" cy="2907164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/>
              <a:t>The client had data in a very specific, custom format.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/>
              <a:t>They needed to send this data to partners in a universal, standard format (Format "EDIFACT").</a:t>
            </a:r>
            <a:endParaRPr lang="fr-FR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A536BD54-EFA1-25A2-9F04-4F22C36E2A5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2960877"/>
            <a:ext cx="5516880" cy="35128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Our solution</a:t>
            </a:r>
          </a:p>
          <a:p>
            <a:pPr rtl="0"/>
            <a:endParaRPr lang="fr-FR" dirty="0"/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54881" y="3324859"/>
            <a:ext cx="5506720" cy="3031489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I </a:t>
            </a:r>
            <a:r>
              <a:rPr lang="fr-FR" dirty="0" err="1"/>
              <a:t>developped</a:t>
            </a:r>
            <a:r>
              <a:rPr lang="fr-FR" dirty="0"/>
              <a:t> a translator program in the middle.</a:t>
            </a:r>
          </a:p>
          <a:p>
            <a:pPr marL="285750" indent="-285750" rtl="0">
              <a:buFontTx/>
              <a:buChar char="-"/>
            </a:pPr>
            <a:r>
              <a:rPr lang="fr-FR" dirty="0"/>
              <a:t>Input (</a:t>
            </a:r>
            <a:r>
              <a:rPr lang="fr-FR" dirty="0" err="1"/>
              <a:t>from</a:t>
            </a:r>
            <a:r>
              <a:rPr lang="fr-FR" dirty="0"/>
              <a:t> SICAME) : </a:t>
            </a:r>
            <a:r>
              <a:rPr lang="fr-FR" dirty="0" err="1"/>
              <a:t>Text</a:t>
            </a:r>
            <a:r>
              <a:rPr lang="fr-FR" dirty="0"/>
              <a:t> file </a:t>
            </a:r>
            <a:r>
              <a:rPr lang="fr-FR" dirty="0" err="1"/>
              <a:t>with</a:t>
            </a:r>
            <a:r>
              <a:rPr lang="fr-FR" dirty="0"/>
              <a:t> data in a </a:t>
            </a:r>
            <a:r>
              <a:rPr lang="fr-FR" dirty="0" err="1"/>
              <a:t>specific</a:t>
            </a:r>
            <a:r>
              <a:rPr lang="fr-FR" dirty="0"/>
              <a:t> position</a:t>
            </a:r>
          </a:p>
          <a:p>
            <a:pPr marL="285750" indent="-285750" rtl="0">
              <a:buFontTx/>
              <a:buChar char="-"/>
            </a:pPr>
            <a:endParaRPr lang="fr-FR" dirty="0"/>
          </a:p>
          <a:p>
            <a:pPr marL="285750" indent="-285750" rtl="0">
              <a:buFontTx/>
              <a:buChar char="-"/>
            </a:pPr>
            <a:endParaRPr lang="fr-FR" dirty="0"/>
          </a:p>
          <a:p>
            <a:pPr marL="285750" indent="-285750" rtl="0">
              <a:buFontTx/>
              <a:buChar char="-"/>
            </a:pPr>
            <a:endParaRPr lang="fr-FR" dirty="0"/>
          </a:p>
          <a:p>
            <a:pPr rtl="0"/>
            <a:r>
              <a:rPr lang="fr-FR" dirty="0"/>
              <a:t>- Output (to GRDF) : Standard « DESADV » Message (</a:t>
            </a:r>
            <a:r>
              <a:rPr lang="fr-FR" dirty="0" err="1"/>
              <a:t>Despatch</a:t>
            </a:r>
            <a:r>
              <a:rPr lang="fr-FR" dirty="0"/>
              <a:t> </a:t>
            </a:r>
            <a:r>
              <a:rPr lang="fr-FR" dirty="0" err="1"/>
              <a:t>Advice</a:t>
            </a:r>
            <a:r>
              <a:rPr lang="fr-FR" dirty="0"/>
              <a:t>)</a:t>
            </a:r>
          </a:p>
        </p:txBody>
      </p:sp>
      <p:sp>
        <p:nvSpPr>
          <p:cNvPr id="68" name="Espace réservé du numéro de diapositive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z="2400" smtClean="0"/>
              <a:pPr rtl="0"/>
              <a:t>11</a:t>
            </a:fld>
            <a:endParaRPr lang="fr-FR" sz="2400" dirty="0"/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0B32F37E-51BD-72CB-0656-1D85E562983E}"/>
              </a:ext>
            </a:extLst>
          </p:cNvPr>
          <p:cNvSpPr/>
          <p:nvPr/>
        </p:nvSpPr>
        <p:spPr>
          <a:xfrm>
            <a:off x="7071360" y="4221480"/>
            <a:ext cx="632618" cy="123444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48290-E898-659E-E1EB-BC9B29284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C3C7B9-4950-E776-7099-6D900A8E2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MY FIRST</a:t>
            </a:r>
            <a:br>
              <a:rPr lang="en-US" dirty="0"/>
            </a:br>
            <a:r>
              <a:rPr lang="en-US" dirty="0"/>
              <a:t>IMPRESSION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2356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7011" y="2666632"/>
            <a:ext cx="4179570" cy="152473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THANK YOU FOR LISTENING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z="2400" smtClean="0"/>
              <a:pPr rtl="0"/>
              <a:t>13</a:t>
            </a:fld>
            <a:endParaRPr lang="fr-FR" sz="2400" dirty="0"/>
          </a:p>
        </p:txBody>
      </p:sp>
      <p:pic>
        <p:nvPicPr>
          <p:cNvPr id="3076" name="Picture 4" descr="ESAIP École d'Ingénieurs - YouTube">
            <a:extLst>
              <a:ext uri="{FF2B5EF4-FFF2-40B4-BE49-F238E27FC236}">
                <a16:creationId xmlns:a16="http://schemas.microsoft.com/office/drawing/2014/main" id="{4162DB85-585C-C78F-F26B-9828D2A41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684" y="136525"/>
            <a:ext cx="1078230" cy="1078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redell Services | Expertise EDI et Traçabilité">
            <a:extLst>
              <a:ext uri="{FF2B5EF4-FFF2-40B4-BE49-F238E27FC236}">
                <a16:creationId xmlns:a16="http://schemas.microsoft.com/office/drawing/2014/main" id="{F50D7C02-1506-A0FB-8D20-FAB73BE24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486" y="5949950"/>
            <a:ext cx="2295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7037_TF67328976_Win32" id="{E569B7C3-0BA4-406D-9BE9-5B461807E327}" vid="{D812BBC8-2D47-4B93-9C83-8DFFBCA5816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DF162BB782884E8614C23C4CAE38F6" ma:contentTypeVersion="4" ma:contentTypeDescription="Crée un document." ma:contentTypeScope="" ma:versionID="a7cfb9a9fd685a6ab450d2600c2c660f">
  <xsd:schema xmlns:xsd="http://www.w3.org/2001/XMLSchema" xmlns:xs="http://www.w3.org/2001/XMLSchema" xmlns:p="http://schemas.microsoft.com/office/2006/metadata/properties" xmlns:ns3="7165090f-c562-4a02-9f2b-7f27643e8269" targetNamespace="http://schemas.microsoft.com/office/2006/metadata/properties" ma:root="true" ma:fieldsID="b5a3d11829fd0b9362ff4b50d019336d" ns3:_="">
    <xsd:import namespace="7165090f-c562-4a02-9f2b-7f27643e826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65090f-c562-4a02-9f2b-7f27643e826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elements/1.1/"/>
    <ds:schemaRef ds:uri="7165090f-c562-4a02-9f2b-7f27643e8269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B1A78C4-DF19-46AF-9F1C-F96A698987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65090f-c562-4a02-9f2b-7f27643e82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minimaliste</Template>
  <TotalTime>142</TotalTime>
  <Words>943</Words>
  <Application>Microsoft Office PowerPoint</Application>
  <PresentationFormat>Grand écran</PresentationFormat>
  <Paragraphs>112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Thème Office</vt:lpstr>
      <vt:lpstr>Presentation of PREDELL SERVICES</vt:lpstr>
      <vt:lpstr>SUMMARY</vt:lpstr>
      <vt:lpstr>PREDELL Services: At a Glance</vt:lpstr>
      <vt:lpstr>PREDELL Services: At a Glance</vt:lpstr>
      <vt:lpstr>What We Do: Core Expertise</vt:lpstr>
      <vt:lpstr>What We Do: Core Expertise</vt:lpstr>
      <vt:lpstr>Services Pole</vt:lpstr>
      <vt:lpstr>Product Pole</vt:lpstr>
      <vt:lpstr>CLIENTS &amp; ORGANIZATION</vt:lpstr>
      <vt:lpstr>CLIENTS &amp; ORGANIZATION</vt:lpstr>
      <vt:lpstr>My First assignment : A Data Translator for GRDF</vt:lpstr>
      <vt:lpstr>MY FIRST IMPRESSION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RADOUANE Youssef</dc:creator>
  <cp:lastModifiedBy>RADOUANE Youssef</cp:lastModifiedBy>
  <cp:revision>6</cp:revision>
  <dcterms:created xsi:type="dcterms:W3CDTF">2025-11-02T22:56:58Z</dcterms:created>
  <dcterms:modified xsi:type="dcterms:W3CDTF">2025-11-05T14:16:21Z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0x010100B0DF162BB782884E8614C23C4CAE38F6</vt:lpwstr>
  </property>
  <property fmtid="{D5CDD505-2E9C-101B-9397-08002B2CF9AE}" pid="3" name="MediaServiceImageTags">
    <vt:lpwstr/>
  </property>
</Properties>
</file>